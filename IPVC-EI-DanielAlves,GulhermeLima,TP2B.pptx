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309" r:id="rId2"/>
    <p:sldId id="258" r:id="rId3"/>
    <p:sldId id="323" r:id="rId4"/>
    <p:sldId id="312" r:id="rId5"/>
    <p:sldId id="342" r:id="rId6"/>
    <p:sldId id="313" r:id="rId7"/>
    <p:sldId id="343" r:id="rId8"/>
    <p:sldId id="344" r:id="rId9"/>
    <p:sldId id="345" r:id="rId10"/>
    <p:sldId id="346" r:id="rId11"/>
    <p:sldId id="347" r:id="rId12"/>
    <p:sldId id="348" r:id="rId13"/>
    <p:sldId id="349" r:id="rId14"/>
    <p:sldId id="350" r:id="rId15"/>
    <p:sldId id="331" r:id="rId16"/>
    <p:sldId id="352" r:id="rId17"/>
    <p:sldId id="332" r:id="rId18"/>
    <p:sldId id="351" r:id="rId19"/>
    <p:sldId id="353" r:id="rId20"/>
    <p:sldId id="354" r:id="rId21"/>
    <p:sldId id="355" r:id="rId22"/>
    <p:sldId id="356" r:id="rId23"/>
    <p:sldId id="341" r:id="rId24"/>
    <p:sldId id="320" r:id="rId25"/>
    <p:sldId id="260" r:id="rId26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47"/>
    <p:restoredTop sz="94655"/>
  </p:normalViewPr>
  <p:slideViewPr>
    <p:cSldViewPr>
      <p:cViewPr varScale="1">
        <p:scale>
          <a:sx n="105" d="100"/>
          <a:sy n="105" d="100"/>
        </p:scale>
        <p:origin x="1878" y="96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ADB6FF1F-555E-4388-A8B0-D1E524B355D1}" type="datetimeFigureOut">
              <a:rPr lang="pt-PT" smtClean="0"/>
              <a:pPr/>
              <a:t>23/11/2025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2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3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CD9FB018-1958-45C1-ABFF-E1E983EC4F43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34781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E77E319B-B046-487F-8D03-B96E4F1A43D0}" type="datetimeFigureOut">
              <a:rPr lang="pt-PT" smtClean="0"/>
              <a:pPr/>
              <a:t>23/11/2025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68" tIns="47384" rIns="94768" bIns="47384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768" tIns="47384" rIns="94768" bIns="47384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F3DD545E-D36A-4832-938A-2ECADA69E4C6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37761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319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1402A-C713-A4B0-7294-CCEAA37E4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0DAC7EE9-C139-5B16-E092-5DC67F501E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1AE3572C-4AC2-B18B-0AE3-2ECD32C836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C7D5E7F9-5F0E-0199-B270-09051DBFBD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394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B2722-9289-888A-F00C-F691DFEE4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C9F6F4FA-AD2C-30C0-0EA2-4942F482B7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41FBDE2B-38BA-5F52-AC56-ABDD3C0B0F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9A4465B7-2E47-991F-45D7-695DED9524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496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D151C-9D86-2AF1-FB17-4354E8A01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5CF51C4F-D721-C9ED-352C-AE0690A9D0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5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A45821D3-8061-25D9-7409-2D747ACB0D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EF2687D-7A33-D32E-2006-4ACD69D770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16419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33FCA-7847-F21A-1E02-08F587AED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504FCD79-85A2-54F4-CAF1-21D23D23F6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6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CB8998EF-8304-A9DC-4DA4-05AB4982E2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0D65229A-B427-C042-26BB-EFFE61CB2B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784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5D5BC-9CA4-2D59-3297-CD1226438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152B82A9-DC32-872C-B90F-AA4893AD1A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7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2B98E9B7-02F6-1E37-7766-88B1BBCA5B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0B879E87-08FF-A2D7-E194-2181302C58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2746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2CA9D-71AC-B884-854E-E0C0E1019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FA28419-900B-22B2-3F74-4F4033FFCC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8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C99505BF-1526-6706-C418-86175B41A1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E2FC32D3-4D1B-6D22-381C-1F18764768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0124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4D58A-F03D-C445-396A-C053C6BE4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26D05D3B-5A46-86AD-1243-A5B7443A7F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9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887A2CBB-5FDC-404A-39D5-0C19E799C6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893F502E-7EB4-8A77-B11F-73EADED365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2711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A82F9-AB98-743A-45E9-02133ABC0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BD939321-C01E-83AB-28BC-A918A756DC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10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489C2F5D-F27F-CBF5-044F-FBB69E418C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04FE672D-CE68-8CF0-DF6B-243929DAC8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5720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B448F-6BC0-8C35-4507-9E3E5D009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C1B5692C-7861-93C4-313E-9A1D7B5861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11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C85C63C0-CECE-045F-A854-F167BB7DD1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AA930C5C-A5B1-5EFB-AE4C-43E871C21A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9511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1A5CF-4FB4-BB76-D568-36FEE4DC0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756F9080-79D5-B8F8-598F-DB31E70BD0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106EFDD-0294-D8B8-D192-DFD30FA519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7DCE57F0-D1F4-0359-0B80-1604FBE677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5744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9D0E3-2323-C0D9-CAD0-45C453FA4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D99749D-2C1C-D15B-5EFF-01DCFE79E2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11762722-01D8-3A53-B379-DD2BB35CBD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F7A44337-7F75-73B9-2D3A-DB90684A73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573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A5ABA-AC3E-B68B-D9E6-796586E05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2F86F70F-A964-00F3-02DA-A8606BD592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33D60FEA-01CD-ADAA-FC8B-8998C92578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984A3E69-4412-2382-9A2C-BC1404772E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827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1BFCC-18DF-B818-71C9-2895F0F89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B294A427-FAA4-E21F-1BD9-ADE1750D0B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15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D3673CE8-6CE3-8CA0-C2E0-7349318A29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1DA83AC1-0F50-E376-CCF2-9D7371119F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9585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22A24-E52D-F270-06CA-B458429D1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045B4CAD-FF84-F044-12C1-3FF6BECAA0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16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9956C62-9CCD-E861-0A66-26ABB39198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D5533A0F-2F55-ACFD-7BFF-5B6805AA9D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94298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0088A-D11C-3863-2024-1EB1AE80D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C5387BD4-EEF9-687E-8583-C6634E5AE3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17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95CCBBB9-3729-6761-95E7-D22EBF629C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36644540-B7B6-8C32-0299-00EBC4FF77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3532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2BCF1-C451-6920-41C8-F24D58AA8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EBB6D082-7F8F-E351-929E-E1659F0F9E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18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6C442A73-59B9-D411-B4AE-1B82469819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5AFE95FC-8F37-A7E6-039F-8757A389DA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7200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70714-8E08-86D6-E3AC-2A346DDCA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13B17D2-4A48-795A-25DA-1464304620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19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C4A205D-D990-6065-63E0-9D3218359B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CB6A49C6-A26E-F6ED-C478-EA9ADFE98C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1411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EA449-6C73-1B7D-7ED6-AC7F880E7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F02266CA-AB50-039C-5FB4-AED36D49AA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20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AF9EA282-AE93-24D8-A92B-4A8AD4520F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CD283202-E2E9-854E-9AF6-6BCD137EC3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6776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AEBD7-E63C-BA37-6A4C-3B7122E02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FA1250DB-827A-565A-ADF9-767F8DFE8C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21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E3AD200B-652C-AA0E-A045-9342BD2675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32FB99DA-2924-B170-00B6-FEC3517575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264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35E81-426D-E61C-50FE-42853C51B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2FD959CD-E452-1FAE-46F0-B9D7DAC856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4A49212C-36B9-28CD-8760-76E8C57010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FA3F9A4D-1168-213E-6036-0F74AD1CCA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3139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5E450-85E5-90D8-C58B-C14D9B5D4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1CC8F8BA-B0DB-A8F6-7D6C-5CF7F2903E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5404687-3D71-556E-878E-0462CC7E47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DE202306-6C37-4B4C-2FF3-BDD025114D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5732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CBB68-7791-74AF-2D15-ACA25C519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02B4C27B-649D-4E97-D4FD-D996C87207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336C94D1-524B-5319-3C4C-4C5FFF5201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79FA2604-A28B-E660-1078-6BDB780EBC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087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Faça clique para editar o estilo do subtítulo do modelo global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3E61B-3AB3-490F-90D4-269C8A444AE7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5C66F-FC7B-4C52-931F-EAABACA1CBD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28.png"/><Relationship Id="rId4" Type="http://schemas.openxmlformats.org/officeDocument/2006/relationships/image" Target="../media/image4.png"/><Relationship Id="rId9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chat.openai.com/" TargetMode="External"/><Relationship Id="rId7" Type="http://schemas.openxmlformats.org/officeDocument/2006/relationships/hyperlink" Target="https://docs.docker.com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" TargetMode="External"/><Relationship Id="rId11" Type="http://schemas.openxmlformats.org/officeDocument/2006/relationships/image" Target="../media/image6.png"/><Relationship Id="rId5" Type="http://schemas.openxmlformats.org/officeDocument/2006/relationships/hyperlink" Target="https://www.kaggle.com/datasets/unitednations/global-commodity-trade-statistics" TargetMode="External"/><Relationship Id="rId10" Type="http://schemas.openxmlformats.org/officeDocument/2006/relationships/image" Target="../media/image5.png"/><Relationship Id="rId4" Type="http://schemas.openxmlformats.org/officeDocument/2006/relationships/hyperlink" Target="https://www.kaggle.com/datasets/mohankrishnathalla/global-house-purchase-decision-dataset?resource=download" TargetMode="External"/><Relationship Id="rId9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" y="-161416"/>
            <a:ext cx="99822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28800" y="2405971"/>
            <a:ext cx="6172200" cy="552329"/>
          </a:xfrm>
        </p:spPr>
        <p:txBody>
          <a:bodyPr>
            <a:normAutofit/>
          </a:bodyPr>
          <a:lstStyle/>
          <a:p>
            <a:r>
              <a:rPr lang="pt-PT" sz="25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INTEGRAÇÃO DE SISTEMAS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00250" y="4110735"/>
            <a:ext cx="6000750" cy="404742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ct val="0"/>
              </a:spcBef>
            </a:pPr>
            <a:r>
              <a:rPr lang="pt-PT" sz="2500" b="1" dirty="0">
                <a:solidFill>
                  <a:schemeClr val="bg1"/>
                </a:solidFill>
                <a:latin typeface="Arial" charset="0"/>
                <a:cs typeface="Arial" charset="0"/>
              </a:rPr>
              <a:t>PYTHON de SOCKETS, RPC e Análise de XML</a:t>
            </a:r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762000" y="6394330"/>
            <a:ext cx="8191499" cy="276444"/>
          </a:xfrm>
          <a:prstGeom prst="rect">
            <a:avLst/>
          </a:prstGeom>
        </p:spPr>
        <p:txBody>
          <a:bodyPr vert="horz" lIns="68580" tIns="34290" rIns="68580" bIns="3429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100" b="1" u="sng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Licenciatura em Engenharia Informática</a:t>
            </a:r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 | Escola Superior de Tecnologia e Gestão| Unidade Curricular: </a:t>
            </a:r>
            <a:r>
              <a:rPr lang="pt-PT" sz="1100" dirty="0">
                <a:highlight>
                  <a:srgbClr val="FFFF00"/>
                </a:highlight>
                <a:latin typeface="Arial" charset="0"/>
                <a:ea typeface="Arial" charset="0"/>
                <a:cs typeface="Arial" charset="0"/>
              </a:rPr>
              <a:t>INTEGRAÇÃO DE SISTEMAS </a:t>
            </a:r>
            <a:r>
              <a:rPr lang="pt-PT" sz="11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| Ano Letivo 2025/2026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130" y="392731"/>
            <a:ext cx="3872752" cy="962356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6D890E14-880C-4963-9EA0-EE9200F689F8}"/>
              </a:ext>
            </a:extLst>
          </p:cNvPr>
          <p:cNvSpPr txBox="1">
            <a:spLocks/>
          </p:cNvSpPr>
          <p:nvPr/>
        </p:nvSpPr>
        <p:spPr>
          <a:xfrm>
            <a:off x="892549" y="5635668"/>
            <a:ext cx="3486150" cy="57143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N.º 31383 – Daniel Alves</a:t>
            </a:r>
          </a:p>
          <a:p>
            <a:pPr algn="l"/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N.º 29360 – Guilherme Lima</a:t>
            </a:r>
          </a:p>
          <a:p>
            <a:pPr algn="l"/>
            <a:endParaRPr lang="pt-PT" sz="11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CDB7617E-BD9F-40A8-BCFA-781CEC4CEE46}"/>
              </a:ext>
            </a:extLst>
          </p:cNvPr>
          <p:cNvSpPr txBox="1">
            <a:spLocks/>
          </p:cNvSpPr>
          <p:nvPr/>
        </p:nvSpPr>
        <p:spPr>
          <a:xfrm>
            <a:off x="4953495" y="5615784"/>
            <a:ext cx="3486150" cy="57143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105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Orientador(</a:t>
            </a:r>
            <a:r>
              <a:rPr lang="pt-PT" sz="105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es</a:t>
            </a:r>
            <a:r>
              <a:rPr lang="pt-PT" sz="105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):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PT" sz="105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Professor Doutor Jorge Ribeiro</a:t>
            </a:r>
          </a:p>
          <a:p>
            <a:pPr algn="l"/>
            <a:endParaRPr lang="pt-PT" sz="105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02F2A86-A50E-0283-3B8A-EB9B059E210D}"/>
              </a:ext>
            </a:extLst>
          </p:cNvPr>
          <p:cNvSpPr txBox="1"/>
          <p:nvPr/>
        </p:nvSpPr>
        <p:spPr>
          <a:xfrm>
            <a:off x="838200" y="1273976"/>
            <a:ext cx="9266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800" b="1" u="sng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Licenciatura em ENGENHARIA INFORMÁTICA / </a:t>
            </a:r>
            <a:r>
              <a:rPr lang="pt-PT" sz="1800" b="1" u="sng" dirty="0" err="1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Degree</a:t>
            </a:r>
            <a:r>
              <a:rPr lang="pt-PT" sz="1800" b="1" u="sng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1800" b="1" cap="all" dirty="0" err="1">
                <a:solidFill>
                  <a:srgbClr val="FFFF00"/>
                </a:solidFill>
              </a:rPr>
              <a:t>Informatics</a:t>
            </a:r>
            <a:r>
              <a:rPr lang="pt-PT" sz="1800" b="1" cap="all" dirty="0">
                <a:solidFill>
                  <a:srgbClr val="FFFF00"/>
                </a:solidFill>
              </a:rPr>
              <a:t> </a:t>
            </a:r>
            <a:r>
              <a:rPr lang="pt-PT" sz="1800" b="1" cap="all" dirty="0" err="1">
                <a:solidFill>
                  <a:srgbClr val="FFFF00"/>
                </a:solidFill>
              </a:rPr>
              <a:t>engineering</a:t>
            </a:r>
            <a:endParaRPr lang="pt-PT" dirty="0">
              <a:solidFill>
                <a:srgbClr val="FFFF00"/>
              </a:solidFill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331B8A6-B954-F04D-0378-7F3DD744E30A}"/>
              </a:ext>
            </a:extLst>
          </p:cNvPr>
          <p:cNvSpPr txBox="1">
            <a:spLocks/>
          </p:cNvSpPr>
          <p:nvPr/>
        </p:nvSpPr>
        <p:spPr>
          <a:xfrm>
            <a:off x="1981200" y="3267584"/>
            <a:ext cx="6019800" cy="5523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25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TP2B</a:t>
            </a:r>
          </a:p>
        </p:txBody>
      </p:sp>
    </p:spTree>
    <p:extLst>
      <p:ext uri="{BB962C8B-B14F-4D97-AF65-F5344CB8AC3E}">
        <p14:creationId xmlns:p14="http://schemas.microsoft.com/office/powerpoint/2010/main" val="962301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/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/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</a:t>
            </a:fld>
            <a:r>
              <a:rPr lang="pt-PT" sz="1000" dirty="0"/>
              <a:t> -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 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Índice 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TP2B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- Python de Sockets, RPC e Análise de XML</a:t>
            </a:r>
            <a:endParaRPr lang="pt-PT" sz="12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19" name="Marcador de Posição de Conteúdo 2"/>
          <p:cNvSpPr txBox="1">
            <a:spLocks/>
          </p:cNvSpPr>
          <p:nvPr/>
        </p:nvSpPr>
        <p:spPr>
          <a:xfrm>
            <a:off x="306388" y="1108110"/>
            <a:ext cx="8305800" cy="510101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PT" sz="2000" dirty="0">
                <a:cs typeface="Arial" pitchFamily="34" charset="0"/>
              </a:rPr>
              <a:t>Introdução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PT" sz="2000" dirty="0">
                <a:cs typeface="Arial" pitchFamily="34" charset="0"/>
              </a:rPr>
              <a:t>Objetivos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PT" sz="2000" dirty="0">
                <a:cs typeface="Arial" pitchFamily="34" charset="0"/>
              </a:rPr>
              <a:t>Arquietetura do sistema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PT" sz="2000" dirty="0">
                <a:cs typeface="Arial" pitchFamily="34" charset="0"/>
              </a:rPr>
              <a:t>Dados e criação/validação do XML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PT" sz="2000" dirty="0">
                <a:cs typeface="Arial" pitchFamily="34" charset="0"/>
              </a:rPr>
              <a:t>Servidor GRPC + XML-RPC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PT" sz="2000" dirty="0">
                <a:cs typeface="Arial" pitchFamily="34" charset="0"/>
              </a:rPr>
              <a:t>Cliente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PT" sz="2000" dirty="0">
                <a:cs typeface="Arial" pitchFamily="34" charset="0"/>
              </a:rPr>
              <a:t>Parsing e Validação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PT" sz="2000" dirty="0">
                <a:cs typeface="Arial" pitchFamily="34" charset="0"/>
              </a:rPr>
              <a:t>Consultas XPATH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PT" sz="2000" dirty="0">
                <a:cs typeface="Arial" pitchFamily="34" charset="0"/>
              </a:rPr>
              <a:t>Docker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PT" sz="2000" dirty="0">
                <a:cs typeface="Arial" pitchFamily="34" charset="0"/>
              </a:rPr>
              <a:t>Resultados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PT" sz="2000" dirty="0">
                <a:cs typeface="Arial" pitchFamily="34" charset="0"/>
              </a:rPr>
              <a:t>Git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PT" sz="2000" dirty="0">
                <a:cs typeface="Arial" pitchFamily="34" charset="0"/>
              </a:rPr>
              <a:t>Conclusão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PT" sz="2000" dirty="0">
                <a:cs typeface="Arial" pitchFamily="34" charset="0"/>
              </a:rPr>
              <a:t>Bibliografia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pt-PT" sz="2000" dirty="0">
              <a:cs typeface="Arial" pitchFamily="34" charset="0"/>
            </a:endParaRPr>
          </a:p>
          <a:p>
            <a:pPr marL="342900" indent="-342900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D42837-E70D-4C64-A8A7-E7F75150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1982921-1900-46B5-BE82-07BECCD63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E263CB9-5E3B-4385-9450-974CDF0F6C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50208AF-C5A5-C009-177D-8C27BB5DCC8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69841B-4743-42E9-837A-73B87FC5C8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6FFB6043-E447-DD6B-5ABC-299283D631C4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@Nome Daniel Alves, Guilherme Lima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TP2B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1A759-DD34-8173-DB3A-6D7E882EE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F79A11E6-6E58-68EC-D3F9-95911264F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161ADB76-D4B6-1E8B-8CDE-041514754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3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E9DD4806-3598-72BF-8EB5-B60B02FB5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Introdução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B07B405D-C1AA-2C45-E70A-837574C5901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5548F43E-0E27-87C3-2A1E-81866DC6E9FD}"/>
              </a:ext>
            </a:extLst>
          </p:cNvPr>
          <p:cNvSpPr txBox="1">
            <a:spLocks/>
          </p:cNvSpPr>
          <p:nvPr/>
        </p:nvSpPr>
        <p:spPr>
          <a:xfrm>
            <a:off x="401795" y="1304292"/>
            <a:ext cx="8229600" cy="4494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pt-PT" dirty="0"/>
              <a:t>A integração de sistemas é essencial no desenvolvimento de aplicações distribuídas, permitindo que diferentes serviços e formatos de dados comuniquem entre si de forma eficaz. </a:t>
            </a:r>
          </a:p>
          <a:p>
            <a:endParaRPr lang="pt-PT" dirty="0"/>
          </a:p>
          <a:p>
            <a:r>
              <a:rPr lang="pt-PT" dirty="0"/>
              <a:t>Neste trabalho prático, é explorado um conjunto de tecnologias fundamentais para esse processo, incluindo a transformação de dados CSV em XML, a validação com XSD e a análise com XPath/XQuery. </a:t>
            </a:r>
          </a:p>
          <a:p>
            <a:endParaRPr lang="pt-PT" dirty="0"/>
          </a:p>
          <a:p>
            <a:r>
              <a:rPr lang="pt-PT" dirty="0"/>
              <a:t>Além disso, são implementados serviços remotos utilizando XML-RPC e gRPC, garantindo comunicação estruturada entre cliente e servidor. O projeto é complementado com ferramentas de versionamento (Git) e execução em containers (Docker), permitindo um ambiente organizado e reprodutível.</a:t>
            </a: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4784AF8-9616-63A8-1FC7-EB72CB4F1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813E4FE-6A4D-8BCE-1697-34E23CF9B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CF088CA-20B8-6F51-B3BC-95B9F33485C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E0C541FE-367D-2A85-B8ED-BECB786575C4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8F42C6F-5825-01F0-4F2E-300C9BC9C85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4" name="Text Box 21">
            <a:extLst>
              <a:ext uri="{FF2B5EF4-FFF2-40B4-BE49-F238E27FC236}">
                <a16:creationId xmlns:a16="http://schemas.microsoft.com/office/drawing/2014/main" id="{2DA313C8-1F30-319E-CC25-1343DD8F8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TP2B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- Python de Sockets, RPC e Análise de XML</a:t>
            </a:r>
            <a:endParaRPr lang="pt-PT" sz="12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F8381179-AD17-2A9C-B9AE-31C0A83D6A52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@Nome Daniel Alves, Guilherme Lima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TP2B</a:t>
            </a:r>
          </a:p>
        </p:txBody>
      </p:sp>
    </p:spTree>
    <p:extLst>
      <p:ext uri="{BB962C8B-B14F-4D97-AF65-F5344CB8AC3E}">
        <p14:creationId xmlns:p14="http://schemas.microsoft.com/office/powerpoint/2010/main" val="254341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78939-C866-C23C-7AA3-5F25F8D4E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E972B1AA-E12C-0279-20C9-3B7E95AF8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4517D408-1A3F-9CD9-88AE-342427F89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4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D011D6F3-8640-351B-1A60-633AF399D4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Objetivos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8A72D91F-D410-7029-EEF5-72D5B35D17B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AD1829F0-61D2-A93B-F631-7E75F370D374}"/>
              </a:ext>
            </a:extLst>
          </p:cNvPr>
          <p:cNvSpPr txBox="1">
            <a:spLocks/>
          </p:cNvSpPr>
          <p:nvPr/>
        </p:nvSpPr>
        <p:spPr>
          <a:xfrm>
            <a:off x="250825" y="1199475"/>
            <a:ext cx="8435975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PT" sz="1600" dirty="0"/>
              <a:t>Desenvolver um sistema completo de integração de dados baseado em CSV, XML e XSD</a:t>
            </a:r>
            <a:r>
              <a:rPr lang="pt-PT" sz="1900" dirty="0"/>
              <a:t>;</a:t>
            </a:r>
          </a:p>
          <a:p>
            <a:pPr marL="342900" lvl="0" indent="-34290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PT" sz="1600" dirty="0"/>
              <a:t>Criar mecanismos automáticos de geração, validação e envio de XML para um servidor remoto</a:t>
            </a:r>
            <a:r>
              <a:rPr lang="pt-PT" sz="1900" dirty="0"/>
              <a:t>;</a:t>
            </a:r>
          </a:p>
          <a:p>
            <a:pPr marL="342900" lvl="0" indent="-34290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PT" sz="1600" dirty="0"/>
              <a:t>Implementar um servidor unificado com suporte a gRPC e XML-RPC;</a:t>
            </a:r>
          </a:p>
          <a:p>
            <a:pPr marL="342900" lvl="0" indent="-34290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PT" sz="1600" dirty="0"/>
              <a:t>Implementar um cliente capaz de gerar XML/XSD, validar documentos e interagir com ambos os serviços;</a:t>
            </a:r>
          </a:p>
          <a:p>
            <a:pPr marL="342900" lvl="0" indent="-34290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PT" sz="1600" dirty="0"/>
              <a:t>Suportar consultas XPath sobre diferentes tipos de dados;</a:t>
            </a:r>
          </a:p>
          <a:p>
            <a:pPr marL="342900" lvl="0" indent="-34290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PT" sz="1600" dirty="0"/>
              <a:t>Organizar o projeto e histórico de desenvolvimento usando Git;</a:t>
            </a:r>
          </a:p>
          <a:p>
            <a:pPr marL="342900" lvl="0" indent="-34290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PT" sz="1600" dirty="0"/>
              <a:t>Executar os serviços através de Docker.</a:t>
            </a:r>
          </a:p>
          <a:p>
            <a:pPr marL="342900" lvl="0" indent="-34290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pt-PT" sz="1900" dirty="0"/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C93A76D-9D37-CEED-15C0-B163E81C1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E23EE1F-6429-B59A-6804-02C7588950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79BC83B-EFF8-5F6E-5C71-ED0043135CB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E2E8295C-7C70-85C4-21D0-3F7FF769ADE8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680EC78-BE56-E326-0B0A-2BC66E7B978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4" name="Text Box 21">
            <a:extLst>
              <a:ext uri="{FF2B5EF4-FFF2-40B4-BE49-F238E27FC236}">
                <a16:creationId xmlns:a16="http://schemas.microsoft.com/office/drawing/2014/main" id="{34AD2E4E-9155-5ECC-2150-BF0754E5F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TP2B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- Python de Sockets, RPC e Análise de XML</a:t>
            </a:r>
            <a:endParaRPr lang="pt-PT" sz="12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E7CC7AE5-C8B8-3FB5-D098-81A5454E5CE6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@Nome Daniel Alves, Guilherme Lima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TP2B</a:t>
            </a:r>
          </a:p>
        </p:txBody>
      </p:sp>
    </p:spTree>
    <p:extLst>
      <p:ext uri="{BB962C8B-B14F-4D97-AF65-F5344CB8AC3E}">
        <p14:creationId xmlns:p14="http://schemas.microsoft.com/office/powerpoint/2010/main" val="2194991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72E29-1FE6-B541-59E6-78E2C8169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C9758501-924B-06B5-493A-C20822B860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5BCDDA7F-D9FC-9594-EC28-D57094D81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5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7D2F12DF-7778-D712-00D6-7E0783DA7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Arquitetura do sistema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BD5E432C-8367-3D8C-F1A1-62541625751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D3AE6FF2-2F26-E973-1567-3A3C2AD16EA6}"/>
              </a:ext>
            </a:extLst>
          </p:cNvPr>
          <p:cNvSpPr txBox="1">
            <a:spLocks/>
          </p:cNvSpPr>
          <p:nvPr/>
        </p:nvSpPr>
        <p:spPr>
          <a:xfrm>
            <a:off x="238125" y="1170723"/>
            <a:ext cx="8435975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algn="just">
              <a:spcBef>
                <a:spcPct val="20000"/>
              </a:spcBef>
            </a:pPr>
            <a:r>
              <a:rPr lang="pt-PT" dirty="0"/>
              <a:t>O sistema é composto por um cliente gerador/validador de XML/XSD e um servidor unificado que expõe serviços via gRPC e XML-RPC. O cliente processa CSVs, converte-os em XML válido e interage com o servidor para enviar dados e executar operações remotas, incluindo consultas XPath. Toda a arquitetura é executada em Docker, garantindo portabilidade e reprodutibilidade.</a:t>
            </a:r>
            <a:endParaRPr kumimoji="0" lang="pt-PT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D76F84D-0DA7-CCC3-6BFC-086767B3B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A0E068F-50B4-DC9C-76CE-699E9F621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2C2D085-DDE8-A8A0-12F8-D0CA2EB7FB0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5F603571-0CF1-02FC-5CDD-79E1B890619E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7F32563-00C9-E6F9-9D58-C96C7BE55C0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4" name="Text Box 21">
            <a:extLst>
              <a:ext uri="{FF2B5EF4-FFF2-40B4-BE49-F238E27FC236}">
                <a16:creationId xmlns:a16="http://schemas.microsoft.com/office/drawing/2014/main" id="{152F3DFB-CEAE-6628-659E-51D30A1ED9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TP2B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- Python de Sockets, RPC e Análise de XML</a:t>
            </a:r>
            <a:endParaRPr lang="pt-PT" sz="12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837C54A2-3BA9-16A4-6028-143512444C8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@Nome Daniel Alves, Guilherme Lima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TP2B</a:t>
            </a:r>
          </a:p>
        </p:txBody>
      </p:sp>
      <p:pic>
        <p:nvPicPr>
          <p:cNvPr id="8" name="Picture 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BB8AE6A-D04B-545A-B00E-B30FB29491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1" y="2588821"/>
            <a:ext cx="8077200" cy="3752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382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4DF9B-5B7A-D060-118E-7051909E7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FA21EFBC-24F6-B457-4A7D-644E9CFA64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7DDEC621-13A9-D92D-CCE0-E08FA5823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6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7C240810-6A21-8834-800C-C3DA025D2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Dados e criação/validação do XML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C8B50B72-B03F-2B67-A554-4710E2BED7B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7F46EEE0-A37A-9A24-3D11-18B2DC97B204}"/>
              </a:ext>
            </a:extLst>
          </p:cNvPr>
          <p:cNvSpPr txBox="1">
            <a:spLocks/>
          </p:cNvSpPr>
          <p:nvPr/>
        </p:nvSpPr>
        <p:spPr>
          <a:xfrm>
            <a:off x="-152400" y="1176685"/>
            <a:ext cx="8686799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>
              <a:spcBef>
                <a:spcPct val="20000"/>
              </a:spcBef>
              <a:defRPr/>
            </a:pPr>
            <a:r>
              <a:rPr lang="pt-PT" dirty="0">
                <a:cs typeface="Arial" pitchFamily="34" charset="0"/>
              </a:rPr>
              <a:t>O ponto de partida deste trabalho foram dois conjuntos de dados retirados do Kaggle, um sobre decisões de compra de imóveis a nível global. </a:t>
            </a:r>
            <a:endParaRPr kumimoji="0" lang="pt-PT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BE5731C-25E4-ABA2-6E6D-BB4AA126B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A6A8DA6-A6FB-5EE0-45ED-12C8F0416D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74B91620-C97D-12B3-F009-152E22F8C57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12A79A2A-7695-D5FE-F278-7F0EE6845B6D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AAA05C1-A06E-0EDB-165A-807A5CB9097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9D34BB5-DCB8-96AB-2C74-9E0F0D20672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892" y="2381776"/>
            <a:ext cx="7288213" cy="3571983"/>
          </a:xfrm>
          <a:prstGeom prst="rect">
            <a:avLst/>
          </a:prstGeom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328322DE-EF97-045A-C950-ED5DA43D4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TP2B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- Python de Sockets, RPC e Análise de XML</a:t>
            </a:r>
            <a:endParaRPr lang="pt-PT" sz="12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E2FEEA3A-0F6C-4F3D-B523-6FF842AD24B4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@Nome Daniel Alves, Guilherme Lima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TP2B</a:t>
            </a:r>
          </a:p>
        </p:txBody>
      </p:sp>
    </p:spTree>
    <p:extLst>
      <p:ext uri="{BB962C8B-B14F-4D97-AF65-F5344CB8AC3E}">
        <p14:creationId xmlns:p14="http://schemas.microsoft.com/office/powerpoint/2010/main" val="1462843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68F20-7FC8-C734-4B97-F0FD52173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CA7FFD6D-58B9-2546-1A32-D0718D815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02A7E477-5CF0-FA64-221C-B8CF25F40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7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F405E9DA-C67E-B203-7FE8-C7423CD4D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Dados e criação/validação do XML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E60719E6-54C3-38D9-4A68-AE0B46F286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D992AED4-C4D3-5E31-1015-6F25B629BF2B}"/>
              </a:ext>
            </a:extLst>
          </p:cNvPr>
          <p:cNvSpPr txBox="1">
            <a:spLocks/>
          </p:cNvSpPr>
          <p:nvPr/>
        </p:nvSpPr>
        <p:spPr>
          <a:xfrm>
            <a:off x="-152400" y="1176685"/>
            <a:ext cx="8686799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>
              <a:spcBef>
                <a:spcPct val="20000"/>
              </a:spcBef>
              <a:defRPr/>
            </a:pPr>
            <a:r>
              <a:rPr lang="pt-PT" dirty="0">
                <a:cs typeface="Arial" pitchFamily="34" charset="0"/>
              </a:rPr>
              <a:t>E o outro sobre </a:t>
            </a:r>
            <a:r>
              <a:rPr lang="pt-PT" dirty="0"/>
              <a:t>Estatísticas do Comércio Global de Commodities.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4749426-2FA3-3B83-4531-223D483B2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D57B47C-0B2F-3EEA-6DF8-AC28D0AF49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E77706D-DF10-9BC5-7932-D9F42AEC65C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C1B4308F-7724-3A5A-CC04-FA54C7B1F5A8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A6A0747-D853-3EBC-7A6D-6C098B2B803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B80CBC3B-42BD-FE26-A0E1-9384C515F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TP2B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- Python de Sockets, RPC e Análise de XML</a:t>
            </a:r>
            <a:endParaRPr lang="pt-PT" sz="12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360BAFB8-E380-3C59-FE1F-7DA414CB0685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@Nome Daniel Alves, Guilherme Lima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TP2B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5A78EC-DD8D-5E92-A4C8-DB076CD135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88" y="1970652"/>
            <a:ext cx="8534399" cy="4200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261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42911-FAEC-309A-210D-272C62381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EB0DFB1-5556-1560-6A65-362BA394C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43D4E804-6DE2-0DBE-ED70-89FB8A1DC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8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F6B763B3-F1E1-00BD-C17E-93E25A073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Dados e criação/validação do XML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3457B8E4-BEF5-13AD-CB47-62D7CC77D48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A92FB191-BB03-D326-2DCE-1E9CFC76F441}"/>
              </a:ext>
            </a:extLst>
          </p:cNvPr>
          <p:cNvSpPr txBox="1">
            <a:spLocks/>
          </p:cNvSpPr>
          <p:nvPr/>
        </p:nvSpPr>
        <p:spPr>
          <a:xfrm>
            <a:off x="-152400" y="1176685"/>
            <a:ext cx="9193213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>
              <a:spcBef>
                <a:spcPct val="20000"/>
              </a:spcBef>
              <a:defRPr/>
            </a:pPr>
            <a:r>
              <a:rPr lang="pt-PT" dirty="0"/>
              <a:t>O cliente inicia o processamento analisando o CSV e extraindo automaticamente etiquetas, tipos de campos e limites, gerando assim um XML estruturado e coerente com o dataset original.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719F2AF-F7DD-06E2-52CF-305EAC213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010EC92-F1F2-A733-759B-8607D7A98A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77031AD-D495-764E-D84E-7B51BADEFDC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9EA64910-D4BB-ACD0-FCF7-1F2A66A1D089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C2D1BD5-CFD1-9C39-44C0-99E4AD20E70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EF5E7831-4E5C-9D79-4C3D-B558E0BFE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TP2B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- Python de Sockets, RPC e Análise de XML</a:t>
            </a:r>
            <a:endParaRPr lang="pt-PT" sz="12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BAA76A47-AD4A-5D44-4223-23DBACB102A3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@Nome Daniel Alves, Guilherme Lima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TP2B</a:t>
            </a:r>
          </a:p>
        </p:txBody>
      </p:sp>
      <p:pic>
        <p:nvPicPr>
          <p:cNvPr id="6" name="Picture 5" descr="A computer screen with text on it&#10;&#10;AI-generated content may be incorrect.">
            <a:extLst>
              <a:ext uri="{FF2B5EF4-FFF2-40B4-BE49-F238E27FC236}">
                <a16:creationId xmlns:a16="http://schemas.microsoft.com/office/drawing/2014/main" id="{31F76E7B-42E9-D557-82DA-02F57BCD0E9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25" y="3429000"/>
            <a:ext cx="7173326" cy="2448267"/>
          </a:xfrm>
          <a:prstGeom prst="rect">
            <a:avLst/>
          </a:prstGeom>
        </p:spPr>
      </p:pic>
      <p:pic>
        <p:nvPicPr>
          <p:cNvPr id="12" name="Picture 11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686B0729-3450-57C0-5467-E01FC66EDA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4895" y="2186163"/>
            <a:ext cx="5144218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161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E31EC-AB65-E59F-089D-9281371F6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DF38DD29-1D91-3F76-D657-A9555C14A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9C4B33EA-CEC4-05D9-AEEE-AAC59AACE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9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C55CCF41-DA79-F13E-5351-5B47D5932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Dados e criação/validação do XML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CCB07394-4BDC-D0A6-8540-F6590709CF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26414467-4FBD-9F91-46B4-6EAE61286DD4}"/>
              </a:ext>
            </a:extLst>
          </p:cNvPr>
          <p:cNvSpPr txBox="1">
            <a:spLocks/>
          </p:cNvSpPr>
          <p:nvPr/>
        </p:nvSpPr>
        <p:spPr>
          <a:xfrm>
            <a:off x="-231776" y="1207590"/>
            <a:ext cx="960755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>
              <a:spcBef>
                <a:spcPct val="20000"/>
              </a:spcBef>
              <a:defRPr/>
            </a:pPr>
            <a:r>
              <a:rPr lang="pt-PT" dirty="0"/>
              <a:t>Para garantir a validação formal do documento XML resultante, o cliente constrói dinamicamente um esquema XSD. Este XSD é inferido a partir do conteúdo do CSV.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F9EE449-8DC1-2E04-7C66-4C8227CB0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1F95FE6-700A-26AC-7F4A-76604D5C16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64033B65-B6D0-C8BF-B4FD-75F01BA677C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6327EAF-BE2D-E0E8-05FF-A63B2DB865E3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C1704B3-716D-52CA-3CA7-7C3A492C50F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6FBD5B88-2C62-BA58-2391-6797C8B368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TP2B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- Python de Sockets, RPC e Análise de XML</a:t>
            </a:r>
            <a:endParaRPr lang="pt-PT" sz="12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B5B7551D-05E9-BDD0-A715-18AA54DABB7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@Nome Daniel Alves, Guilherme Lima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TP2B</a:t>
            </a:r>
          </a:p>
        </p:txBody>
      </p:sp>
      <p:pic>
        <p:nvPicPr>
          <p:cNvPr id="10" name="Picture 9" descr="A computer screen with text and images&#10;&#10;AI-generated content may be incorrect.">
            <a:extLst>
              <a:ext uri="{FF2B5EF4-FFF2-40B4-BE49-F238E27FC236}">
                <a16:creationId xmlns:a16="http://schemas.microsoft.com/office/drawing/2014/main" id="{1190E09C-5E3C-7F4B-FC1F-41D67C00906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173" y="2209800"/>
            <a:ext cx="6041653" cy="337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136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BF123-3383-2F4B-568A-B7DABA392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0A3DB661-C292-0B58-81F0-1E46CC72AA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D6791489-A3A2-81F8-3BAF-FBEA0F138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10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E401589A-2FE1-20B7-AA2C-D82887139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Dados e criação/validação do XML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5C7C1914-4AF9-28BE-6899-136FA7B4B24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8AA77CB2-8BB6-48B5-F468-95219604AF9C}"/>
              </a:ext>
            </a:extLst>
          </p:cNvPr>
          <p:cNvSpPr txBox="1">
            <a:spLocks/>
          </p:cNvSpPr>
          <p:nvPr/>
        </p:nvSpPr>
        <p:spPr>
          <a:xfrm>
            <a:off x="-231776" y="1207590"/>
            <a:ext cx="960755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>
              <a:spcBef>
                <a:spcPct val="20000"/>
              </a:spcBef>
              <a:defRPr/>
            </a:pPr>
            <a:r>
              <a:rPr lang="pt-PT" dirty="0"/>
              <a:t>Após a geração, o XML é validado com a biblioteca xmlschema, assegurando conformidade estrutural antes do upload para o servidor. Qualquer ficheiro inválido ou com estrutura inconsistente é rejeitado, garantindo a integridade de todo o pipeline.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D983394-164F-BB31-6978-86C53A537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46F2F93-A35E-9428-A8FD-490BD4877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D583ACC-23A0-C924-D609-E87D12495AF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A0E4B39C-7295-7657-ED02-47B421F874EF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63EF9C3-6298-5D92-7275-7E13B51DBD9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251D975B-7427-F06E-9D7A-CFDD5B6EF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TP2B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- Python de Sockets, RPC e Análise de XML</a:t>
            </a:r>
            <a:endParaRPr lang="pt-PT" sz="12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8B697F18-2E69-0C2D-FFFA-19E4851EAAF2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@Nome Daniel Alves, Guilherme Lima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TP2B</a:t>
            </a:r>
          </a:p>
        </p:txBody>
      </p:sp>
      <p:pic>
        <p:nvPicPr>
          <p:cNvPr id="6" name="Picture 5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53213B5A-2F59-83A0-28B0-CD21B625B0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25" y="2404325"/>
            <a:ext cx="4431824" cy="3135810"/>
          </a:xfrm>
          <a:prstGeom prst="rect">
            <a:avLst/>
          </a:prstGeom>
        </p:spPr>
      </p:pic>
      <p:pic>
        <p:nvPicPr>
          <p:cNvPr id="12" name="Picture 11" descr="A computer screen with text and numbers&#10;&#10;AI-generated content may be incorrect.">
            <a:extLst>
              <a:ext uri="{FF2B5EF4-FFF2-40B4-BE49-F238E27FC236}">
                <a16:creationId xmlns:a16="http://schemas.microsoft.com/office/drawing/2014/main" id="{616A1393-7086-7CB5-DCAD-6F462D9CF9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384" y="2404325"/>
            <a:ext cx="4496427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782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0812C-34F7-92C1-3500-67F7C97F9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ED1C702B-4BF9-24AD-64BF-87924FC1D7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13FCD54F-171B-3DFC-5640-15CC0F924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11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A73AC278-ADC0-EB59-5C3B-799DE1078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Servidor GRPC + XML-RPC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DEA67884-22C9-58C6-D83B-5B5823CCB85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AEB2E5B3-FDAF-0E9A-1A22-DE6D761CBC1F}"/>
              </a:ext>
            </a:extLst>
          </p:cNvPr>
          <p:cNvSpPr txBox="1">
            <a:spLocks/>
          </p:cNvSpPr>
          <p:nvPr/>
        </p:nvSpPr>
        <p:spPr>
          <a:xfrm>
            <a:off x="241681" y="1103698"/>
            <a:ext cx="91440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pt-PT" dirty="0"/>
              <a:t>O servidor é único e expõe simultaneamente gRPC e XML-RPC, partilhando o mesmo XML carregado em memória após o upload do cliente. Assim, ambos os protocolos consultam exatamente os mesmos dados sem duplicar lógica.</a:t>
            </a:r>
          </a:p>
          <a:p>
            <a:endParaRPr lang="pt-PT" dirty="0"/>
          </a:p>
          <a:p>
            <a:r>
              <a:rPr lang="pt-PT" b="1" dirty="0"/>
              <a:t>gRPC</a:t>
            </a:r>
          </a:p>
          <a:p>
            <a:endParaRPr lang="pt-PT" b="1" dirty="0"/>
          </a:p>
          <a:p>
            <a:r>
              <a:rPr lang="pt-PT" dirty="0"/>
              <a:t>O servidor utiliza o ficheiro .proto para definir os métodos, estruturas de dados e mensagens. O gRPC oferece comunicações binárias eficientes e tipadas, ideais para operações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2D158C9-CA7E-6470-FC27-0956A586A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4F46F8E-E83E-0A79-777A-8ED10B909E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E1AF085-C10C-8E04-19D9-E6A8B5E0420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A18BAB6D-6BDD-6767-7421-B2D97D4B4145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AEA5C41-FF11-E615-2672-8774C061FD3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D0F3B9BC-F413-86FE-D9F4-AFA3A947E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TP2B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- Python de Sockets, RPC e Análise de XML</a:t>
            </a:r>
            <a:endParaRPr lang="pt-PT" sz="12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3F1AD733-1F46-63E7-0675-CF94C76FADB6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@Nome Daniel Alves, Guilherme Lima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TP2B</a:t>
            </a:r>
          </a:p>
        </p:txBody>
      </p:sp>
      <p:pic>
        <p:nvPicPr>
          <p:cNvPr id="10" name="Picture 9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5F0FC6EB-D386-8D8A-ECDA-3926D8D186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3572578"/>
            <a:ext cx="4858428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552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54C69-44EC-622E-8C92-A3D747271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8567FDC7-66D2-B282-0D11-E9E3D9BFE7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EB97949E-F1BA-6A48-D7B8-7389D0D06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12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6D79D098-072B-09D0-AEA5-D6E0353B0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Servidor GRPC + XML-RPC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375FD54F-5982-D53E-9DE7-F6DE90DC10D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D042C3E9-3418-4376-9928-618D146512CE}"/>
              </a:ext>
            </a:extLst>
          </p:cNvPr>
          <p:cNvSpPr txBox="1">
            <a:spLocks/>
          </p:cNvSpPr>
          <p:nvPr/>
        </p:nvSpPr>
        <p:spPr>
          <a:xfrm>
            <a:off x="241681" y="1103698"/>
            <a:ext cx="91440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pt-PT" b="1" dirty="0"/>
              <a:t>gRPC</a:t>
            </a:r>
          </a:p>
          <a:p>
            <a:endParaRPr lang="pt-PT" b="1" dirty="0"/>
          </a:p>
          <a:p>
            <a:r>
              <a:rPr lang="pt-PT" dirty="0"/>
              <a:t>No servidor foi implementado na classe PropertyServicer os métodos: UploadData (recebe e carrega o XML/XSD), CountRecords, GetRecordByID, ExecuteXPath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2A00FA9-6987-C05C-75AF-C50FB10DC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7CA69AB-17F3-7F5D-76D8-2AABE920A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C3EAC0BD-3DB5-2594-52C3-A30FCDA88A6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64BDC409-661B-330F-3E24-7C618D8D978D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F25D863-C5BE-B2BD-5ACB-2317AF4BBED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CEB58527-AB00-8898-DCA6-9D52E036E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TP2B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- Python de Sockets, RPC e Análise de XML</a:t>
            </a:r>
            <a:endParaRPr lang="pt-PT" sz="12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BC4BA5E2-FD99-8367-2FE7-A000BF6AD2B7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@Nome Daniel Alves, Guilherme Lima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TP2B</a:t>
            </a:r>
          </a:p>
        </p:txBody>
      </p:sp>
      <p:pic>
        <p:nvPicPr>
          <p:cNvPr id="6" name="Picture 5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52CB0C70-1961-2A1F-C6CC-9677221F43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88" y="2457090"/>
            <a:ext cx="4420217" cy="1171739"/>
          </a:xfrm>
          <a:prstGeom prst="rect">
            <a:avLst/>
          </a:prstGeom>
        </p:spPr>
      </p:pic>
      <p:pic>
        <p:nvPicPr>
          <p:cNvPr id="12" name="Picture 11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AA3D3428-6764-4A68-0BAF-A7B2793FB4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6193" y="2549542"/>
            <a:ext cx="3219899" cy="781159"/>
          </a:xfrm>
          <a:prstGeom prst="rect">
            <a:avLst/>
          </a:prstGeom>
        </p:spPr>
      </p:pic>
      <p:pic>
        <p:nvPicPr>
          <p:cNvPr id="15" name="Picture 14" descr="A computer code with text&#10;&#10;AI-generated content may be incorrect.">
            <a:extLst>
              <a:ext uri="{FF2B5EF4-FFF2-40B4-BE49-F238E27FC236}">
                <a16:creationId xmlns:a16="http://schemas.microsoft.com/office/drawing/2014/main" id="{874040E7-6BDF-6BAE-EA7C-DF2BA47390C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88" y="5043744"/>
            <a:ext cx="6325483" cy="828791"/>
          </a:xfrm>
          <a:prstGeom prst="rect">
            <a:avLst/>
          </a:prstGeom>
        </p:spPr>
      </p:pic>
      <p:pic>
        <p:nvPicPr>
          <p:cNvPr id="17" name="Picture 16" descr="A computer code with colorful text&#10;&#10;AI-generated content may be incorrect.">
            <a:extLst>
              <a:ext uri="{FF2B5EF4-FFF2-40B4-BE49-F238E27FC236}">
                <a16:creationId xmlns:a16="http://schemas.microsoft.com/office/drawing/2014/main" id="{FFE79D00-1DD2-03C4-27DF-D4B0451944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586" y="3917147"/>
            <a:ext cx="6211167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154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3654D-240A-222F-B7F3-4278F1981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8703AE7C-A726-3818-2926-CC304BB74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7F15B8F0-979B-FE46-884E-DF14E7CD3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13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14989723-8DB1-0BAD-D680-4A984B41F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Servidor GRPC + XML-RPC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B40100AD-3E6C-739E-0298-BB12CDA0E62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688FD0E3-FD65-1F17-D4F0-E94F5A75F107}"/>
              </a:ext>
            </a:extLst>
          </p:cNvPr>
          <p:cNvSpPr txBox="1">
            <a:spLocks/>
          </p:cNvSpPr>
          <p:nvPr/>
        </p:nvSpPr>
        <p:spPr>
          <a:xfrm>
            <a:off x="101225" y="1139233"/>
            <a:ext cx="91440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pt-PT" b="1" dirty="0"/>
              <a:t>XML-RPC</a:t>
            </a:r>
          </a:p>
          <a:p>
            <a:endParaRPr lang="pt-PT" b="1" dirty="0"/>
          </a:p>
          <a:p>
            <a:r>
              <a:rPr lang="pt-PT" dirty="0"/>
              <a:t>O servidor expõe um conjunto de métodos XML-RPC que replicam as funcionalidades do gRPC, mas utilizando XML convencional sobre HTTP.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AB8CD96-E2A8-4377-0C9F-643742F80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D773BBA-D9DF-47CF-7409-608EB39EF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A59A7FC-0791-CDD2-5023-D495E886639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D84021F5-1752-9D42-173D-9D503570B409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EBCADC4-BACB-04C7-3AF2-26D91674258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2758173B-8B76-7BAB-5919-A326A5C4A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TP2B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- Python de Sockets, RPC e Análise de XML</a:t>
            </a:r>
            <a:endParaRPr lang="pt-PT" sz="12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078ECD80-C8D9-A6F6-ACFC-7E8A7076BF6F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@Nome Daniel Alves, Guilherme Lima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TP2B</a:t>
            </a:r>
          </a:p>
        </p:txBody>
      </p:sp>
      <p:pic>
        <p:nvPicPr>
          <p:cNvPr id="10" name="Picture 9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09989FA1-3A05-E2BD-631E-01C22C694C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13" y="2968433"/>
            <a:ext cx="3540563" cy="1111439"/>
          </a:xfrm>
          <a:prstGeom prst="rect">
            <a:avLst/>
          </a:prstGeom>
        </p:spPr>
      </p:pic>
      <p:pic>
        <p:nvPicPr>
          <p:cNvPr id="14" name="Picture 13" descr="A computer screen with text&#10;&#10;AI-generated content may be incorrect.">
            <a:extLst>
              <a:ext uri="{FF2B5EF4-FFF2-40B4-BE49-F238E27FC236}">
                <a16:creationId xmlns:a16="http://schemas.microsoft.com/office/drawing/2014/main" id="{EC87E6EA-8CF7-DEF9-0516-C7750933CA9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3499" y="3039457"/>
            <a:ext cx="4706148" cy="1012983"/>
          </a:xfrm>
          <a:prstGeom prst="rect">
            <a:avLst/>
          </a:prstGeom>
        </p:spPr>
      </p:pic>
      <p:pic>
        <p:nvPicPr>
          <p:cNvPr id="18" name="Picture 17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A313431C-5994-9BEC-E2D4-9909FE82412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4686865"/>
            <a:ext cx="5349777" cy="84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29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C1CE8-6943-EE65-1D3A-FDDE933C9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3CC3D1B6-B029-87E4-4E8B-CE889608EA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D2A0610C-31B8-7D0B-9759-4BF7C8DDC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14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3FC93C03-5ADB-96C2-E708-72E8B9BC6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Servidor GRPC + XML-RPC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8332FBC7-1286-A20B-7466-8A0A9646F74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79EFDFEF-369C-C79B-7B3A-8D89BA95FFE2}"/>
              </a:ext>
            </a:extLst>
          </p:cNvPr>
          <p:cNvSpPr txBox="1">
            <a:spLocks/>
          </p:cNvSpPr>
          <p:nvPr/>
        </p:nvSpPr>
        <p:spPr>
          <a:xfrm>
            <a:off x="238125" y="1188292"/>
            <a:ext cx="8661775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pt-PT" dirty="0"/>
              <a:t>O servidor mantém todos os dados em memória e garante que ambos os protocolos devolvem resultados equivalentes. Toda a infraestrutura foi desenhada para correr dentro de Docker, permitindo isolar dependências e garantir reprodutibilidade e o GRPC é iniciado numa porta diferente do XML-RPC.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20DDAAE-D377-1C89-C614-EB6DA0D2F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A208505-E5C6-583E-3A59-E7923887E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2C7F40E-DD49-96C6-AE0F-5FF56C82D59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3E2DD43C-7B11-2E4A-EDE4-CB7C137E0188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0C5E6EF-6D06-AAB4-6AB7-8575E4D91C9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21">
            <a:extLst>
              <a:ext uri="{FF2B5EF4-FFF2-40B4-BE49-F238E27FC236}">
                <a16:creationId xmlns:a16="http://schemas.microsoft.com/office/drawing/2014/main" id="{57A0DB44-A377-D151-35EA-EFC968CE8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TP2B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- Python de Sockets, RPC e Análise de XML</a:t>
            </a:r>
            <a:endParaRPr lang="pt-PT" sz="12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F73EA656-F97F-E63B-4861-D3223271D62D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@Nome Daniel Alves, Guilherme Lima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TP2B</a:t>
            </a:r>
          </a:p>
        </p:txBody>
      </p:sp>
      <p:pic>
        <p:nvPicPr>
          <p:cNvPr id="6" name="Picture 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B0255467-E4BF-8931-0A18-0586E3A61A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585" y="2362200"/>
            <a:ext cx="6094412" cy="1814111"/>
          </a:xfrm>
          <a:prstGeom prst="rect">
            <a:avLst/>
          </a:prstGeom>
        </p:spPr>
      </p:pic>
      <p:pic>
        <p:nvPicPr>
          <p:cNvPr id="12" name="Picture 11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AD590450-452B-3CEE-0E29-0717BD1CAE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15" y="4156700"/>
            <a:ext cx="5791200" cy="2233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631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3684B-7FCB-FFDD-A21B-F31D7ABFE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28EC338D-6A9D-A817-F890-3FF5B0043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D3557673-EEE2-5593-2780-5706425EF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15</a:t>
            </a:fld>
            <a:r>
              <a:rPr lang="pt-PT" sz="1000" dirty="0"/>
              <a:t> -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CB4E0A2F-C57E-A397-6088-983D38539FD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BE9D3B3E-6FCB-A828-8B1F-80345D0B2784}"/>
              </a:ext>
            </a:extLst>
          </p:cNvPr>
          <p:cNvSpPr txBox="1">
            <a:spLocks/>
          </p:cNvSpPr>
          <p:nvPr/>
        </p:nvSpPr>
        <p:spPr>
          <a:xfrm>
            <a:off x="-152400" y="1243591"/>
            <a:ext cx="91440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>
              <a:spcBef>
                <a:spcPct val="20000"/>
              </a:spcBef>
              <a:defRPr/>
            </a:pPr>
            <a:r>
              <a:rPr lang="pt-PT" sz="1600" dirty="0"/>
              <a:t>O cliente automatiza todo o pipeline: escolhe o CSV disponível (global_house_purchase_dataset por defeito, commodity_trade_statistics_data se for o único), gera o XML e o XSD, valida localmente e só depois envia para o servidor via gRPC.</a:t>
            </a:r>
            <a:endParaRPr kumimoji="0" lang="pt-PT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8EF53E5-2DAA-5EFB-0B87-221B368C8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68F6FC6-119B-38FF-A779-F938710D2C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DA14207-265D-23F6-410A-8E29D8A0937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2D60838-4ACE-9B5B-0675-59E542B7E53A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A0FAF85-7710-6756-5FCF-5FF30C34E58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12" name="Text Box 13">
            <a:extLst>
              <a:ext uri="{FF2B5EF4-FFF2-40B4-BE49-F238E27FC236}">
                <a16:creationId xmlns:a16="http://schemas.microsoft.com/office/drawing/2014/main" id="{71636798-DF3C-E940-0049-76EA1F2EE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Cliente</a:t>
            </a:r>
          </a:p>
        </p:txBody>
      </p:sp>
      <p:sp>
        <p:nvSpPr>
          <p:cNvPr id="4" name="Text Box 21">
            <a:extLst>
              <a:ext uri="{FF2B5EF4-FFF2-40B4-BE49-F238E27FC236}">
                <a16:creationId xmlns:a16="http://schemas.microsoft.com/office/drawing/2014/main" id="{6982FD55-2DCE-C37C-9CBD-C68BA9EE7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TP2B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- Python de Sockets, RPC e Análise de XML</a:t>
            </a:r>
            <a:endParaRPr lang="pt-PT" sz="12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80864943-3842-5062-34DB-3AFDAD416BE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@Nome Daniel Alves, Guilherme Lima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TP2B</a:t>
            </a:r>
          </a:p>
        </p:txBody>
      </p:sp>
      <p:pic>
        <p:nvPicPr>
          <p:cNvPr id="14" name="Picture 1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8CDA2E3C-7D04-EE77-C263-93A5473EBC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88" y="2209800"/>
            <a:ext cx="3829584" cy="1409897"/>
          </a:xfrm>
          <a:prstGeom prst="rect">
            <a:avLst/>
          </a:prstGeom>
        </p:spPr>
      </p:pic>
      <p:pic>
        <p:nvPicPr>
          <p:cNvPr id="16" name="Picture 15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81BA58BB-BE84-C2BF-8E02-2CCBBFCAB1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88" y="3761164"/>
            <a:ext cx="3772426" cy="2591162"/>
          </a:xfrm>
          <a:prstGeom prst="rect">
            <a:avLst/>
          </a:prstGeom>
        </p:spPr>
      </p:pic>
      <p:pic>
        <p:nvPicPr>
          <p:cNvPr id="18" name="Picture 17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5678780E-270D-DE93-C65A-8D614607ADD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546" y="1981200"/>
            <a:ext cx="4696480" cy="2067213"/>
          </a:xfrm>
          <a:prstGeom prst="rect">
            <a:avLst/>
          </a:prstGeom>
        </p:spPr>
      </p:pic>
      <p:pic>
        <p:nvPicPr>
          <p:cNvPr id="21" name="Picture 20" descr="A computer code with white text&#10;&#10;AI-generated content may be incorrect.">
            <a:extLst>
              <a:ext uri="{FF2B5EF4-FFF2-40B4-BE49-F238E27FC236}">
                <a16:creationId xmlns:a16="http://schemas.microsoft.com/office/drawing/2014/main" id="{1237191E-4435-B413-6B19-2152A104984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408" y="4786022"/>
            <a:ext cx="3048425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013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CEE77-0FE9-566F-A1B9-9C37A0DDD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F8861881-454D-3089-8B5B-DCD70FD5D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69A737E1-26D0-F203-EACE-3EDE3129F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16</a:t>
            </a:fld>
            <a:r>
              <a:rPr lang="pt-PT" sz="1000" dirty="0"/>
              <a:t> -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B256EC08-3D19-A847-7C21-26663A0903B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FCDEBCCB-16A0-6D19-F30A-547AF47373C3}"/>
              </a:ext>
            </a:extLst>
          </p:cNvPr>
          <p:cNvSpPr txBox="1">
            <a:spLocks/>
          </p:cNvSpPr>
          <p:nvPr/>
        </p:nvSpPr>
        <p:spPr>
          <a:xfrm>
            <a:off x="-152400" y="1243591"/>
            <a:ext cx="91440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>
              <a:spcBef>
                <a:spcPct val="20000"/>
              </a:spcBef>
              <a:defRPr/>
            </a:pPr>
            <a:r>
              <a:rPr lang="pt-PT" dirty="0"/>
              <a:t>Após o upload, executa testes básicos (contagem, registo por ID e uma XPath configurável).</a:t>
            </a:r>
            <a:endParaRPr kumimoji="0" lang="pt-PT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0C5FE9-859C-DE57-AEF9-574393CD8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D835082-5E66-6B8D-FCBA-38799029B6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E525F4B-8D24-71CC-B036-1F78B98B0D8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CCB6380E-19C3-D773-FCA0-9B5775E13AD9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7347690-DB71-AB29-3D31-83CF108D8B6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12" name="Text Box 13">
            <a:extLst>
              <a:ext uri="{FF2B5EF4-FFF2-40B4-BE49-F238E27FC236}">
                <a16:creationId xmlns:a16="http://schemas.microsoft.com/office/drawing/2014/main" id="{D365E606-A88D-1623-4625-F54E863F57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Cliente</a:t>
            </a:r>
          </a:p>
        </p:txBody>
      </p:sp>
      <p:sp>
        <p:nvSpPr>
          <p:cNvPr id="4" name="Text Box 21">
            <a:extLst>
              <a:ext uri="{FF2B5EF4-FFF2-40B4-BE49-F238E27FC236}">
                <a16:creationId xmlns:a16="http://schemas.microsoft.com/office/drawing/2014/main" id="{9C185469-7D5B-8EBD-5729-2FC7570C1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TP2B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- Python de Sockets, RPC e Análise de XML</a:t>
            </a:r>
            <a:endParaRPr lang="pt-PT" sz="12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D9E91171-924C-1D33-1E6F-35214E04427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@Nome Daniel Alves, Guilherme Lima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TP2B</a:t>
            </a:r>
          </a:p>
        </p:txBody>
      </p:sp>
      <p:pic>
        <p:nvPicPr>
          <p:cNvPr id="8" name="Picture 7" descr="A computer screen with many colorful text&#10;&#10;AI-generated content may be incorrect.">
            <a:extLst>
              <a:ext uri="{FF2B5EF4-FFF2-40B4-BE49-F238E27FC236}">
                <a16:creationId xmlns:a16="http://schemas.microsoft.com/office/drawing/2014/main" id="{DD9B1B4F-712E-AF5F-B9EC-0FBCAA3790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579" y="2035655"/>
            <a:ext cx="6687483" cy="37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5122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625F3-CC6C-23B2-1C10-1FF2A84B2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768F25A2-3398-C5E7-F2EC-E8AE03CB6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132C622B-81CE-41A1-9150-97C3591DC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17</a:t>
            </a:fld>
            <a:r>
              <a:rPr lang="pt-PT" sz="1000" dirty="0"/>
              <a:t> -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B3BAE92C-BAED-3926-CF2E-74572D45C0E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AF3438EA-EA0B-FA68-5DB5-D88EE78AA7A3}"/>
              </a:ext>
            </a:extLst>
          </p:cNvPr>
          <p:cNvSpPr txBox="1">
            <a:spLocks/>
          </p:cNvSpPr>
          <p:nvPr/>
        </p:nvSpPr>
        <p:spPr>
          <a:xfrm>
            <a:off x="-228601" y="1146339"/>
            <a:ext cx="9269413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>
              <a:spcBef>
                <a:spcPct val="20000"/>
              </a:spcBef>
              <a:defRPr/>
            </a:pPr>
            <a:r>
              <a:rPr lang="pt-PT" sz="1600" dirty="0"/>
              <a:t>A etapa de parsing e validação é um dos componentes centrais do pipeline, garantindo que os dados extraídos do CSV são corretamente estruturados e cumprem requisitos formais antes de serem enviados ao servidor. </a:t>
            </a:r>
          </a:p>
          <a:p>
            <a:pPr lvl="1">
              <a:spcBef>
                <a:spcPct val="20000"/>
              </a:spcBef>
              <a:defRPr/>
            </a:pPr>
            <a:endParaRPr lang="pt-PT" sz="1600" dirty="0"/>
          </a:p>
          <a:p>
            <a:pPr lvl="1">
              <a:spcBef>
                <a:spcPct val="20000"/>
              </a:spcBef>
              <a:defRPr/>
            </a:pPr>
            <a:r>
              <a:rPr lang="pt-PT" sz="1600" dirty="0"/>
              <a:t>O cliente vai correr diferentes métodos para gerar os ficheiros e para os validar.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685EFA7-239A-5E19-5039-49E9E3939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B246193-1A66-20DC-748A-E5DE8174EF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7ACA056A-8DA7-2403-A071-B200007FE9C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3E7BB7E-BC63-648B-B105-612A5B2BC583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895FC4E-A99D-14FF-F4B2-B8A1A58F1FA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4" name="Text Box 21">
            <a:extLst>
              <a:ext uri="{FF2B5EF4-FFF2-40B4-BE49-F238E27FC236}">
                <a16:creationId xmlns:a16="http://schemas.microsoft.com/office/drawing/2014/main" id="{92D9C2B6-DAE1-40D6-DF1F-8EE9507055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TP2B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- Python de Sockets, RPC e Análise de XML</a:t>
            </a:r>
            <a:endParaRPr lang="pt-PT" sz="12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76253F89-0377-C2BA-1BF0-402A8428F7B5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@Nome Daniel Alves, Guilherme Lima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TP2B</a:t>
            </a:r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80B13381-5E30-E11E-28E7-F71BC3D715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Parsing e Validação</a:t>
            </a:r>
          </a:p>
        </p:txBody>
      </p:sp>
      <p:pic>
        <p:nvPicPr>
          <p:cNvPr id="17" name="Picture 16" descr="A computer screen with text&#10;&#10;AI-generated content may be incorrect.">
            <a:extLst>
              <a:ext uri="{FF2B5EF4-FFF2-40B4-BE49-F238E27FC236}">
                <a16:creationId xmlns:a16="http://schemas.microsoft.com/office/drawing/2014/main" id="{C3204BD4-1A3C-22DD-5D8C-CD057D615A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88" y="2809187"/>
            <a:ext cx="3047999" cy="2491795"/>
          </a:xfrm>
          <a:prstGeom prst="rect">
            <a:avLst/>
          </a:prstGeom>
        </p:spPr>
      </p:pic>
      <p:pic>
        <p:nvPicPr>
          <p:cNvPr id="20" name="Picture 19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0BC24764-4D02-7B82-E7F2-65EA04156FF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814" y="3092924"/>
            <a:ext cx="4553585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47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60EB0-19D6-AD2D-707B-477F617E0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54108D0D-53F8-D6C8-62F5-6F50D3A3D9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0F69C5DB-E6CB-38E0-BBC6-FBC911CA8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18</a:t>
            </a:fld>
            <a:r>
              <a:rPr lang="pt-PT" sz="1000" dirty="0"/>
              <a:t> -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AC331702-DD2E-17E2-FA0A-1D772FCAC10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11B8C746-5350-AEFA-FCF5-591A49E22398}"/>
              </a:ext>
            </a:extLst>
          </p:cNvPr>
          <p:cNvSpPr txBox="1">
            <a:spLocks/>
          </p:cNvSpPr>
          <p:nvPr/>
        </p:nvSpPr>
        <p:spPr>
          <a:xfrm>
            <a:off x="-228601" y="1146339"/>
            <a:ext cx="9269413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>
              <a:spcBef>
                <a:spcPct val="20000"/>
              </a:spcBef>
              <a:defRPr/>
            </a:pPr>
            <a:r>
              <a:rPr lang="pt-PT" sz="1600" dirty="0"/>
              <a:t>Após o upload, o cliente executa consultas XPath para validar a acessibilidade dos dados. As queries são configuráveis (env XPATH_QUERY, por defeito uma coluna de dados) e aplicadas via método ExecuteXPath do gRPC, reutilizando o XML carregado no servidor.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DD4D0C6-B2EA-95FD-F4EE-2630B0970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3DF3072-691F-A2A9-BAF9-73B4DDF4AD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0404196-4049-D908-830A-F855DEF62BA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2205E371-FD80-BBB5-C024-07830F4E6C89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B10090D-F772-D8A4-1702-6CED3753231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4" name="Text Box 21">
            <a:extLst>
              <a:ext uri="{FF2B5EF4-FFF2-40B4-BE49-F238E27FC236}">
                <a16:creationId xmlns:a16="http://schemas.microsoft.com/office/drawing/2014/main" id="{002920D8-7950-9794-88D4-99F719D4C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TP2B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- Python de Sockets, RPC e Análise de XML</a:t>
            </a:r>
            <a:endParaRPr lang="pt-PT" sz="12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EC27BA8F-F7C5-CD55-23CE-6B4C27D7B2C6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@Nome Daniel Alves, Guilherme Lima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TP2B</a:t>
            </a:r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DCC2464C-C9B6-FF4B-B955-BC2DD2AF39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Consultas XPath</a:t>
            </a:r>
          </a:p>
        </p:txBody>
      </p:sp>
      <p:pic>
        <p:nvPicPr>
          <p:cNvPr id="11" name="Picture 10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89F2852C-4588-25AF-72C6-1C22D16A1C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575" y="5350747"/>
            <a:ext cx="5449060" cy="838317"/>
          </a:xfrm>
          <a:prstGeom prst="rect">
            <a:avLst/>
          </a:prstGeom>
        </p:spPr>
      </p:pic>
      <p:pic>
        <p:nvPicPr>
          <p:cNvPr id="18" name="Picture 17" descr="A computer code on a black background&#10;&#10;AI-generated content may be incorrect.">
            <a:extLst>
              <a:ext uri="{FF2B5EF4-FFF2-40B4-BE49-F238E27FC236}">
                <a16:creationId xmlns:a16="http://schemas.microsoft.com/office/drawing/2014/main" id="{DD5DBCE2-1299-BCF2-6C4A-85B4177291E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89" y="2276494"/>
            <a:ext cx="7935432" cy="244826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7532B89-041E-7955-E4D6-B7E4AE200BB4}"/>
              </a:ext>
            </a:extLst>
          </p:cNvPr>
          <p:cNvSpPr txBox="1"/>
          <p:nvPr/>
        </p:nvSpPr>
        <p:spPr>
          <a:xfrm>
            <a:off x="306388" y="4879864"/>
            <a:ext cx="20621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600" dirty="0"/>
              <a:t>Utilização pelo cliente:</a:t>
            </a:r>
          </a:p>
        </p:txBody>
      </p:sp>
    </p:spTree>
    <p:extLst>
      <p:ext uri="{BB962C8B-B14F-4D97-AF65-F5344CB8AC3E}">
        <p14:creationId xmlns:p14="http://schemas.microsoft.com/office/powerpoint/2010/main" val="40996555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3A271-8EC4-B56E-C529-B0D3CDFDC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40CCACE2-7D85-B9DD-01EA-35F33DE12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10F1E9D7-8300-F9E1-ED99-F30D0F824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19</a:t>
            </a:fld>
            <a:r>
              <a:rPr lang="pt-PT" sz="1000" dirty="0"/>
              <a:t> -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CC6FBD6F-FD31-CF88-D91C-F9A8519A643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29529C23-1DBE-DD6F-A1AD-1F422DD3CD8B}"/>
              </a:ext>
            </a:extLst>
          </p:cNvPr>
          <p:cNvSpPr txBox="1">
            <a:spLocks/>
          </p:cNvSpPr>
          <p:nvPr/>
        </p:nvSpPr>
        <p:spPr>
          <a:xfrm>
            <a:off x="306388" y="1144865"/>
            <a:ext cx="8531224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pt-PT" sz="1600" dirty="0"/>
              <a:t>O projeto está containerizado com Docker Compose, subindo dois serviços: server (gRPC 50051 + XML-RPC 8000) e client (gera/valida XML/XSD, faz upload e testes, depois termina).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D541F1F-0957-8FF4-E767-8761D7C2D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5F1D95A-BA51-43A6-A2F8-9C1F104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4285622-EFBD-99D5-B31D-6B3ECC76776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4ECA8AE0-EFF3-EFEF-6440-4DFF602EEB46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2CB6FAB-FBD5-AC1C-3B3F-743325B4385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4" name="Text Box 21">
            <a:extLst>
              <a:ext uri="{FF2B5EF4-FFF2-40B4-BE49-F238E27FC236}">
                <a16:creationId xmlns:a16="http://schemas.microsoft.com/office/drawing/2014/main" id="{0AF87E2D-71F3-1694-DA19-3A3C4DB6E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TP2B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- Python de Sockets, RPC e Análise de XML</a:t>
            </a:r>
            <a:endParaRPr lang="pt-PT" sz="12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429F2507-E317-6230-A32F-E6AD932DCC3D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@Nome Daniel Alves, Guilherme Lima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TP2B</a:t>
            </a:r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5C66F9F0-F6D4-FCAB-93B0-FC684C624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Docker</a:t>
            </a:r>
          </a:p>
        </p:txBody>
      </p:sp>
      <p:pic>
        <p:nvPicPr>
          <p:cNvPr id="8" name="Picture 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D351EA3-5DE8-B90A-9FBF-5BD05C88C2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210" y="3655781"/>
            <a:ext cx="2639349" cy="2594915"/>
          </a:xfrm>
          <a:prstGeom prst="rect">
            <a:avLst/>
          </a:prstGeom>
        </p:spPr>
      </p:pic>
      <p:pic>
        <p:nvPicPr>
          <p:cNvPr id="12" name="Picture 11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60BAD50E-8A27-F840-AB4E-93A5461A43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282" y="1912311"/>
            <a:ext cx="2624775" cy="2588819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9EBA8F-627C-C099-80FD-C747E94021C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057" y="4185086"/>
            <a:ext cx="3341586" cy="2169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601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2B2C5-2BBC-41BA-6682-6830C8E3F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70B66EE1-E8F9-591C-45F5-4CC4930EE4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1132BD93-88DF-4CED-EEF7-2CBB714F6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20</a:t>
            </a:fld>
            <a:r>
              <a:rPr lang="pt-PT" sz="1000" dirty="0"/>
              <a:t> -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B328B315-4800-9C75-E23D-C54624ADEE3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B79092ED-32E9-505C-287B-2351E245D663}"/>
              </a:ext>
            </a:extLst>
          </p:cNvPr>
          <p:cNvSpPr txBox="1">
            <a:spLocks/>
          </p:cNvSpPr>
          <p:nvPr/>
        </p:nvSpPr>
        <p:spPr>
          <a:xfrm>
            <a:off x="306388" y="1144865"/>
            <a:ext cx="8531224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pt-PT" dirty="0"/>
              <a:t>A execução é iniciada com o comando:</a:t>
            </a:r>
          </a:p>
          <a:p>
            <a:endParaRPr lang="pt-PT" sz="1600" dirty="0"/>
          </a:p>
          <a:p>
            <a:endParaRPr lang="pt-PT" sz="1600" dirty="0"/>
          </a:p>
          <a:p>
            <a:endParaRPr lang="pt-PT" sz="1600" dirty="0"/>
          </a:p>
          <a:p>
            <a:endParaRPr lang="pt-PT" sz="1600" dirty="0"/>
          </a:p>
          <a:p>
            <a:endParaRPr lang="pt-PT" sz="1600" dirty="0"/>
          </a:p>
          <a:p>
            <a:r>
              <a:rPr lang="pt-PT" dirty="0"/>
              <a:t>O servidor arranca automaticamente dentro do container, expondo simultaneamente os serviços server e client.</a:t>
            </a:r>
          </a:p>
          <a:p>
            <a:endParaRPr lang="pt-PT" sz="1600" dirty="0"/>
          </a:p>
          <a:p>
            <a:endParaRPr lang="pt-PT" sz="1600" dirty="0"/>
          </a:p>
          <a:p>
            <a:endParaRPr lang="pt-PT" sz="1600" dirty="0"/>
          </a:p>
          <a:p>
            <a:endParaRPr lang="pt-PT" sz="1600" dirty="0"/>
          </a:p>
          <a:p>
            <a:endParaRPr lang="pt-PT" sz="1600" dirty="0"/>
          </a:p>
          <a:p>
            <a:endParaRPr lang="pt-PT" sz="16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CE6F7F8-0475-786D-DEB7-A332D97DD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C9DCA40-7F1B-CF5D-D831-A1708AF5D7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6FECA80-4AFE-A412-734F-FDFB83B12F4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0DA46CE1-103D-86CE-C77F-C3D31B8B90C6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79B8C82-5B79-C082-FE1D-E4FF86E2EA8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4" name="Text Box 21">
            <a:extLst>
              <a:ext uri="{FF2B5EF4-FFF2-40B4-BE49-F238E27FC236}">
                <a16:creationId xmlns:a16="http://schemas.microsoft.com/office/drawing/2014/main" id="{1233FFAB-1882-00CE-0DDE-8B788FAEE8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TP2B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- Python de Sockets, RPC e Análise de XML</a:t>
            </a:r>
            <a:endParaRPr lang="pt-PT" sz="12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4F7E605F-1654-5AF2-985C-23FD6D60889E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@Nome Daniel Alves, Guilherme Lima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TP2B</a:t>
            </a:r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048A949A-B9F3-E1A4-3F4C-F7DFC9FE8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Execução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C5A3D3-FF0E-CC5E-3472-1240957AFC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733" y="1972113"/>
            <a:ext cx="5640533" cy="266482"/>
          </a:xfrm>
          <a:prstGeom prst="rect">
            <a:avLst/>
          </a:prstGeom>
        </p:spPr>
      </p:pic>
      <p:pic>
        <p:nvPicPr>
          <p:cNvPr id="14" name="Picture 1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8AF9B23-CD6F-D2EA-246C-72A475C2F12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7770" y="3895506"/>
            <a:ext cx="3648457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2826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9F02F-F4FB-7AE8-81DA-422A578C1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424A238F-4D01-42D5-431D-B7570EBE0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1CE63D1F-854F-1819-834A-782CB831B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21</a:t>
            </a:fld>
            <a:r>
              <a:rPr lang="pt-PT" sz="1000" dirty="0"/>
              <a:t> -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CC21143B-AC90-BEA3-386C-E49C09645F3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EF4FC371-B357-F407-DE3E-C1D01BD597CA}"/>
              </a:ext>
            </a:extLst>
          </p:cNvPr>
          <p:cNvSpPr txBox="1">
            <a:spLocks/>
          </p:cNvSpPr>
          <p:nvPr/>
        </p:nvSpPr>
        <p:spPr>
          <a:xfrm>
            <a:off x="306388" y="1144865"/>
            <a:ext cx="8531224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pt-PT" sz="1600" dirty="0"/>
              <a:t>O client gera/valida o XML/XSD, faz UploadData ao server, depois executa os testes gRPC (CountRecords, GetRecordByID, ExecuteXPath) e termina. O server fica ativo nas portas 50051 (gRPC) e 8000 (XML-RPC).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913BA10-FFDD-4F7E-5945-3735ED818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52B340D-C1F3-1EB9-0F90-35D13ED17A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E7E6884-FA53-3E06-C1C3-3BCAFB4591E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0CE974A9-9A5E-8E96-579F-D325DC8EA8EC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7034BA3-A966-09DE-35AC-D47BC230AE0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4" name="Text Box 21">
            <a:extLst>
              <a:ext uri="{FF2B5EF4-FFF2-40B4-BE49-F238E27FC236}">
                <a16:creationId xmlns:a16="http://schemas.microsoft.com/office/drawing/2014/main" id="{C910CF92-DB6E-A483-2BDC-9FE0AB8ED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TP2B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- Python de Sockets, RPC e Análise de XML</a:t>
            </a:r>
            <a:endParaRPr lang="pt-PT" sz="12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F858C78D-FC27-A2E7-5230-D05802453A4C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@Nome Daniel Alves, Guilherme Lima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TP2B</a:t>
            </a:r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4640885F-65A5-5D33-26E4-F7AFBC7C5B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Execução</a:t>
            </a:r>
          </a:p>
        </p:txBody>
      </p:sp>
      <p:pic>
        <p:nvPicPr>
          <p:cNvPr id="8" name="Picture 7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E3444FBD-FE28-5B97-F67A-8A8DC72648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706" y="2012904"/>
            <a:ext cx="5820587" cy="1400370"/>
          </a:xfrm>
          <a:prstGeom prst="rect">
            <a:avLst/>
          </a:prstGeom>
        </p:spPr>
      </p:pic>
      <p:pic>
        <p:nvPicPr>
          <p:cNvPr id="12" name="Picture 11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C2DF5A26-3154-82DE-D73F-A903D3B633C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001" y="3785818"/>
            <a:ext cx="5658640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7338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87845-05A1-847A-EDC4-6216C5550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861AF3ED-8AE6-4980-0B6C-53380EB577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08622FB8-8100-9F31-A066-78D218B61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22</a:t>
            </a:fld>
            <a:r>
              <a:rPr lang="pt-PT" sz="1000" dirty="0"/>
              <a:t> -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3BF02EFB-1D51-E5FC-9AB4-55D6F57CAED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D06128A1-40CE-01A8-7F0C-8EA74DB2F7D5}"/>
              </a:ext>
            </a:extLst>
          </p:cNvPr>
          <p:cNvSpPr txBox="1">
            <a:spLocks/>
          </p:cNvSpPr>
          <p:nvPr/>
        </p:nvSpPr>
        <p:spPr>
          <a:xfrm>
            <a:off x="306388" y="1144865"/>
            <a:ext cx="8531224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pt-PT" sz="1600" dirty="0"/>
              <a:t>O repositório Git organiza todo o projeto, incluindo o cliente, o servidor, ficheiros de testes e imagens Docker. Também inclui um ficheiro README onde vai toda a informação para executar o projeto.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B45E812-CC12-EE38-E2C7-0F67B8916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C734F22-5105-E21E-5E8C-95C841730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20EB683-D0EB-72AA-AEDA-E0EE350F17A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D388418A-BEF7-E037-CAA9-1C3B6552083F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A57E7AD-CDCF-C46B-33B5-8F726E21075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4" name="Text Box 21">
            <a:extLst>
              <a:ext uri="{FF2B5EF4-FFF2-40B4-BE49-F238E27FC236}">
                <a16:creationId xmlns:a16="http://schemas.microsoft.com/office/drawing/2014/main" id="{EC958020-CC43-C570-C2A3-613F011FC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TP2B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- Python de Sockets, RPC e Análise de XML</a:t>
            </a:r>
            <a:endParaRPr lang="pt-PT" sz="12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B67744C9-35B4-CE5D-6948-AD512BA88FB4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@Nome Daniel Alves, Guilherme Lima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TP2B</a:t>
            </a:r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02EDC7BA-60F0-3222-98D9-0451D7B6CE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Git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343E7F-B464-7F20-AB34-FCF1FF043B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04" y="2069927"/>
            <a:ext cx="4335216" cy="3593666"/>
          </a:xfrm>
          <a:prstGeom prst="rect">
            <a:avLst/>
          </a:prstGeom>
        </p:spPr>
      </p:pic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7C7C20D-05D2-2303-D4BC-1B36140D5C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3146" y="2034128"/>
            <a:ext cx="3872737" cy="393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846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60185-4000-31FF-2C51-CB840ED6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C224FC4A-D006-39FE-6044-B4118E44A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3E400B76-A149-06EE-3544-8F224EC6C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23</a:t>
            </a:fld>
            <a:r>
              <a:rPr lang="pt-PT" sz="1000" dirty="0"/>
              <a:t> -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A1D64C8F-481A-45BC-4B68-4F1EF4FF04B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F8928A61-0C55-2FFC-D9AD-386654FEAB58}"/>
              </a:ext>
            </a:extLst>
          </p:cNvPr>
          <p:cNvSpPr txBox="1">
            <a:spLocks/>
          </p:cNvSpPr>
          <p:nvPr/>
        </p:nvSpPr>
        <p:spPr>
          <a:xfrm>
            <a:off x="201233" y="1144865"/>
            <a:ext cx="8814175" cy="49377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pt-PT" dirty="0"/>
              <a:t>O sistema desenvolvido consolidou-se num servidor único que disponibiliza simultaneamente gRPC e XML-RPC, partilhando o mesmo XML carregado em memória e garantindo consistência entre protocolos. </a:t>
            </a:r>
          </a:p>
          <a:p>
            <a:endParaRPr lang="pt-PT" dirty="0"/>
          </a:p>
          <a:p>
            <a:r>
              <a:rPr lang="pt-PT" dirty="0"/>
              <a:t>O cliente automatiza todo o fluxo  desde a leitura de CSVs até à geração de XML/XSD e validação com xmlschema  enviando depois os dados para o servidor via gRPC. </a:t>
            </a:r>
          </a:p>
          <a:p>
            <a:endParaRPr lang="pt-PT" dirty="0"/>
          </a:p>
          <a:p>
            <a:r>
              <a:rPr lang="pt-PT" dirty="0"/>
              <a:t>Foram aplicados mecanismos como limites e chunking para lidar com datasets maiores, aumentando a estabilidade do processo.</a:t>
            </a:r>
          </a:p>
          <a:p>
            <a:endParaRPr lang="pt-PT" dirty="0"/>
          </a:p>
          <a:p>
            <a:r>
              <a:rPr lang="pt-PT" dirty="0"/>
              <a:t>As consultas XPath, implementadas em ambos os protocolos, permitem análises flexíveis e foram validadas através de testes com IDs e expressões configuráveis. </a:t>
            </a:r>
          </a:p>
          <a:p>
            <a:endParaRPr lang="pt-PT" dirty="0"/>
          </a:p>
          <a:p>
            <a:r>
              <a:rPr lang="pt-PT" dirty="0"/>
              <a:t>A utilização de Docker Compose simplificou a execução e assegurou um ambiente totalmente reprodutível. O repositório Git foi organizado com documentação atualizada e suporte para múltiplos datasets.</a:t>
            </a:r>
          </a:p>
          <a:p>
            <a:endParaRPr lang="pt-PT" dirty="0"/>
          </a:p>
          <a:p>
            <a:r>
              <a:rPr lang="pt-PT" dirty="0"/>
              <a:t>No conjunto, o sistema apresenta um pipeline robusto, funcional e adaptável, capaz de integrar diferentes formatos e protocolos de comunicação de forma coerente e eficiente.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B32E5F7-33B5-ADC8-803C-5B423F462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F0F9128-6C89-928D-CACA-43EA7C251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04582AE-19F2-07B4-D8A9-8BDBD55C43A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6D68C44D-8D57-FBD7-B9C6-ED8314ED6678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97A5257-B68B-D263-C479-675DC3EBE69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12" name="Text Box 13">
            <a:extLst>
              <a:ext uri="{FF2B5EF4-FFF2-40B4-BE49-F238E27FC236}">
                <a16:creationId xmlns:a16="http://schemas.microsoft.com/office/drawing/2014/main" id="{D644EEB9-74B8-6772-E2BA-3E51C9B616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Conclusão</a:t>
            </a:r>
            <a:endParaRPr lang="pt-PT" sz="1700" b="1" dirty="0">
              <a:effectLst>
                <a:outerShdw blurRad="38100" dist="38100" dir="2700000" algn="tl">
                  <a:srgbClr val="C0C0C0"/>
                </a:outerShdw>
              </a:effectLst>
              <a:latin typeface="Arial"/>
              <a:cs typeface="Arial"/>
            </a:endParaRPr>
          </a:p>
        </p:txBody>
      </p:sp>
      <p:sp>
        <p:nvSpPr>
          <p:cNvPr id="4" name="Text Box 21">
            <a:extLst>
              <a:ext uri="{FF2B5EF4-FFF2-40B4-BE49-F238E27FC236}">
                <a16:creationId xmlns:a16="http://schemas.microsoft.com/office/drawing/2014/main" id="{5CA7E358-485B-567A-0E6C-F9C6210FB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TP2B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- Python de Sockets, RPC e Análise de XML</a:t>
            </a:r>
            <a:endParaRPr lang="pt-PT" sz="12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C2CF8064-99A5-3116-B3C1-1F4C23CCA5E7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@Nome Daniel Alves, Guilherme Lima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TP2B</a:t>
            </a:r>
          </a:p>
        </p:txBody>
      </p:sp>
    </p:spTree>
    <p:extLst>
      <p:ext uri="{BB962C8B-B14F-4D97-AF65-F5344CB8AC3E}">
        <p14:creationId xmlns:p14="http://schemas.microsoft.com/office/powerpoint/2010/main" val="37932138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67A16-88D5-FA34-6F3A-4EBFEC494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01D8DAB1-63C3-A86E-472D-DF89DAA9F1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666C270A-8168-34CE-97D8-6D8C33372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24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8EF409E2-3259-EFA9-A427-6ED3AA697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Bibliografia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10077352-FDB7-A8DD-4999-6E6A5C7E5C1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7516D97A-D90A-6972-3365-02B1D405482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pPr lvl="1">
              <a:lnSpc>
                <a:spcPct val="200000"/>
              </a:lnSpc>
              <a:spcBef>
                <a:spcPct val="20000"/>
              </a:spcBef>
              <a:defRPr/>
            </a:pPr>
            <a:r>
              <a:rPr lang="pt-PT" sz="4000" b="1" dirty="0">
                <a:cs typeface="Arial" pitchFamily="34" charset="0"/>
              </a:rPr>
              <a:t>Modelos de IA utilizados:</a:t>
            </a:r>
            <a:endParaRPr lang="pt-PT" dirty="0">
              <a:cs typeface="Arial" pitchFamily="34" charset="0"/>
            </a:endParaRPr>
          </a:p>
          <a:p>
            <a:pPr lvl="1">
              <a:lnSpc>
                <a:spcPct val="200000"/>
              </a:lnSpc>
              <a:spcBef>
                <a:spcPct val="20000"/>
              </a:spcBef>
              <a:defRPr/>
            </a:pPr>
            <a:r>
              <a:rPr lang="pt-PT" sz="2600" dirty="0">
                <a:cs typeface="Arial" pitchFamily="34" charset="0"/>
              </a:rPr>
              <a:t>ChatGPT – </a:t>
            </a:r>
            <a:r>
              <a:rPr lang="pt-PT" sz="2600" dirty="0">
                <a:cs typeface="Arial" pitchFamily="34" charset="0"/>
                <a:hlinkClick r:id="rId3"/>
              </a:rPr>
              <a:t>https://chat.openai.com/</a:t>
            </a:r>
            <a:r>
              <a:rPr lang="pt-PT" sz="2600" dirty="0">
                <a:cs typeface="Arial" pitchFamily="34" charset="0"/>
              </a:rPr>
              <a:t> </a:t>
            </a:r>
          </a:p>
          <a:p>
            <a:pPr lvl="1">
              <a:lnSpc>
                <a:spcPct val="200000"/>
              </a:lnSpc>
              <a:spcBef>
                <a:spcPct val="20000"/>
              </a:spcBef>
              <a:defRPr/>
            </a:pPr>
            <a:r>
              <a:rPr lang="pt-PT" sz="4000" b="1" dirty="0">
                <a:cs typeface="Arial" pitchFamily="34" charset="0"/>
              </a:rPr>
              <a:t>Sites usados:</a:t>
            </a:r>
          </a:p>
          <a:p>
            <a:pPr lvl="1">
              <a:lnSpc>
                <a:spcPct val="200000"/>
              </a:lnSpc>
              <a:spcBef>
                <a:spcPct val="20000"/>
              </a:spcBef>
              <a:defRPr/>
            </a:pPr>
            <a:r>
              <a:rPr lang="pt-PT" sz="2600" dirty="0">
                <a:cs typeface="Arial" pitchFamily="34" charset="0"/>
              </a:rPr>
              <a:t>CSV  – </a:t>
            </a:r>
            <a:r>
              <a:rPr lang="pt-PT" sz="2600" dirty="0">
                <a:cs typeface="Arial" pitchFamily="34" charset="0"/>
                <a:hlinkClick r:id="rId4"/>
              </a:rPr>
              <a:t>https://www.kaggle.com/datasets/mohankrishnathalla/global-house-purchase-decision-dataset?resource=download</a:t>
            </a:r>
            <a:r>
              <a:rPr lang="pt-PT" sz="2600" dirty="0">
                <a:cs typeface="Arial" pitchFamily="34" charset="0"/>
              </a:rPr>
              <a:t> </a:t>
            </a:r>
          </a:p>
          <a:p>
            <a:pPr lvl="1">
              <a:lnSpc>
                <a:spcPct val="200000"/>
              </a:lnSpc>
              <a:spcBef>
                <a:spcPct val="20000"/>
              </a:spcBef>
              <a:defRPr/>
            </a:pPr>
            <a:r>
              <a:rPr lang="pt-PT" sz="2600" dirty="0">
                <a:cs typeface="Arial" pitchFamily="34" charset="0"/>
                <a:hlinkClick r:id="rId5"/>
              </a:rPr>
              <a:t>https://www.kaggle.com/datasets/unitednations/global-commodity-trade-statistics</a:t>
            </a:r>
            <a:r>
              <a:rPr lang="pt-PT" sz="2600" dirty="0">
                <a:cs typeface="Arial" pitchFamily="34" charset="0"/>
              </a:rPr>
              <a:t> </a:t>
            </a:r>
          </a:p>
          <a:p>
            <a:pPr lvl="1">
              <a:lnSpc>
                <a:spcPct val="200000"/>
              </a:lnSpc>
              <a:spcBef>
                <a:spcPct val="20000"/>
              </a:spcBef>
              <a:defRPr/>
            </a:pPr>
            <a:r>
              <a:rPr lang="pt-PT" sz="2600" dirty="0">
                <a:cs typeface="Arial" pitchFamily="34" charset="0"/>
              </a:rPr>
              <a:t>Git – </a:t>
            </a:r>
            <a:r>
              <a:rPr lang="pt-PT" sz="2600" dirty="0">
                <a:cs typeface="Arial" pitchFamily="34" charset="0"/>
                <a:hlinkClick r:id="rId6"/>
              </a:rPr>
              <a:t>https://github.com/</a:t>
            </a:r>
            <a:r>
              <a:rPr lang="pt-PT" sz="2600" dirty="0">
                <a:cs typeface="Arial" pitchFamily="34" charset="0"/>
              </a:rPr>
              <a:t> </a:t>
            </a:r>
          </a:p>
          <a:p>
            <a:pPr lvl="1">
              <a:lnSpc>
                <a:spcPct val="200000"/>
              </a:lnSpc>
              <a:spcBef>
                <a:spcPct val="20000"/>
              </a:spcBef>
              <a:defRPr/>
            </a:pPr>
            <a:r>
              <a:rPr lang="pt-PT" sz="2600" dirty="0">
                <a:cs typeface="Arial" pitchFamily="34" charset="0"/>
              </a:rPr>
              <a:t>Docker </a:t>
            </a:r>
            <a:r>
              <a:rPr lang="pt-PT" dirty="0">
                <a:cs typeface="Arial" pitchFamily="34" charset="0"/>
              </a:rPr>
              <a:t>– </a:t>
            </a:r>
            <a:r>
              <a:rPr lang="pt-PT" sz="2600" dirty="0">
                <a:cs typeface="Arial" pitchFamily="34" charset="0"/>
                <a:hlinkClick r:id="rId7"/>
              </a:rPr>
              <a:t>https://docs.docker.com/</a:t>
            </a:r>
            <a:r>
              <a:rPr lang="pt-PT" sz="2600" dirty="0">
                <a:cs typeface="Arial" pitchFamily="34" charset="0"/>
              </a:rPr>
              <a:t> </a:t>
            </a:r>
          </a:p>
          <a:p>
            <a:pPr lvl="1">
              <a:lnSpc>
                <a:spcPct val="200000"/>
              </a:lnSpc>
              <a:spcBef>
                <a:spcPct val="20000"/>
              </a:spcBef>
              <a:defRPr/>
            </a:pPr>
            <a:endParaRPr lang="pt-PT" sz="2600" dirty="0">
              <a:cs typeface="Arial" pitchFamily="34" charset="0"/>
            </a:endParaRPr>
          </a:p>
          <a:p>
            <a:pPr marR="0" lvl="1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Arial" pitchFamily="34" charset="0"/>
            </a:endParaRPr>
          </a:p>
          <a:p>
            <a:pPr marR="0" lvl="1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Arial" pitchFamily="34" charset="0"/>
            </a:endParaRPr>
          </a:p>
          <a:p>
            <a:pPr marL="800100" marR="0" lvl="1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D70F599-A6FC-CA0E-1616-A8131B4ACD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9FC7565-DE4C-D0CB-EAFC-7B06A96719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8B08F62-07D3-8DF9-9805-4720824078F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FC3E5096-663A-03BB-BB3F-1767920BA1B3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209373F-728D-7211-F5E0-7EBCB8EC08D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26246AF8-D712-E50B-3808-5A0720172C6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@Nome Daniel Alves, Guilherme Lima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TP2B</a:t>
            </a:r>
          </a:p>
        </p:txBody>
      </p:sp>
      <p:sp>
        <p:nvSpPr>
          <p:cNvPr id="4" name="Text Box 21">
            <a:extLst>
              <a:ext uri="{FF2B5EF4-FFF2-40B4-BE49-F238E27FC236}">
                <a16:creationId xmlns:a16="http://schemas.microsoft.com/office/drawing/2014/main" id="{5E188353-65A4-6220-5243-74A5920E8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TP2B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- Python de Sockets, RPC e Análise de XML</a:t>
            </a:r>
            <a:endParaRPr lang="pt-PT" sz="12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7978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00250" y="5867400"/>
            <a:ext cx="5143500" cy="489738"/>
          </a:xfrm>
        </p:spPr>
        <p:txBody>
          <a:bodyPr>
            <a:normAutofit/>
          </a:bodyPr>
          <a:lstStyle/>
          <a:p>
            <a:r>
              <a:rPr lang="pt-PT" sz="150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www.ipvc.pt</a:t>
            </a:r>
            <a:endParaRPr lang="pt-PT" sz="15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606" y="3409950"/>
            <a:ext cx="4048787" cy="100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2599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4951</TotalTime>
  <Words>2311</Words>
  <Application>Microsoft Office PowerPoint</Application>
  <PresentationFormat>On-screen Show (4:3)</PresentationFormat>
  <Paragraphs>268</Paragraphs>
  <Slides>25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Tema do Office</vt:lpstr>
      <vt:lpstr>INTEGRAÇÃO DE SISTEMAS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Diapositivo 1</dc:title>
  <dc:creator>Jorge Ribeiro</dc:creator>
  <cp:lastModifiedBy>Daniel Alves</cp:lastModifiedBy>
  <cp:revision>244</cp:revision>
  <cp:lastPrinted>2020-09-27T18:04:57Z</cp:lastPrinted>
  <dcterms:created xsi:type="dcterms:W3CDTF">2011-05-31T09:21:51Z</dcterms:created>
  <dcterms:modified xsi:type="dcterms:W3CDTF">2025-11-23T23:35:40Z</dcterms:modified>
</cp:coreProperties>
</file>